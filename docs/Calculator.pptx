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Belleza" panose="020B0604020202020204" charset="0"/>
      <p:regular r:id="rId9"/>
    </p:embeddedFont>
    <p:embeddedFont>
      <p:font typeface="Calibri (MS)" panose="020B0604020202020204" charset="0"/>
      <p:regular r:id="rId10"/>
    </p:embeddedFont>
    <p:embeddedFont>
      <p:font typeface="Calibri (MS) Bold" panose="020B0604020202020204" charset="0"/>
      <p:regular r:id="rId11"/>
    </p:embeddedFont>
    <p:embeddedFont>
      <p:font typeface="Open Sans" panose="020B0606030504020204" pitchFamily="34" charset="0"/>
      <p:regular r:id="rId12"/>
    </p:embeddedFont>
    <p:embeddedFont>
      <p:font typeface="Open Sans Bold" panose="020B0806030504020204" charset="0"/>
      <p:regular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79" y="18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02.11.2026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286000"/>
            <a:ext cx="6499086" cy="731520"/>
            <a:chOff x="0" y="0"/>
            <a:chExt cx="8665448" cy="9753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65448" cy="975360"/>
            </a:xfrm>
            <a:custGeom>
              <a:avLst/>
              <a:gdLst/>
              <a:ahLst/>
              <a:cxnLst/>
              <a:rect l="l" t="t" r="r" b="b"/>
              <a:pathLst>
                <a:path w="8665448" h="975360">
                  <a:moveTo>
                    <a:pt x="0" y="0"/>
                  </a:moveTo>
                  <a:lnTo>
                    <a:pt x="8665448" y="0"/>
                  </a:lnTo>
                  <a:lnTo>
                    <a:pt x="866544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4775" r="-68836" b="-22977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8665448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600">
                  <a:solidFill>
                    <a:srgbClr val="F59E3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NEXTHIKES IT SOLUTIONS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84679" y="3577077"/>
            <a:ext cx="10351493" cy="259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62"/>
              </a:lnSpc>
            </a:pPr>
            <a:r>
              <a:rPr lang="en-US" sz="8385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Scientific &amp; Advanced Calculator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7280" y="8037195"/>
            <a:ext cx="731520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B8BC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</a:p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Aditi Kumar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521440" y="1554480"/>
            <a:ext cx="5687568" cy="1463040"/>
            <a:chOff x="0" y="0"/>
            <a:chExt cx="7583424" cy="19507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83424" cy="1950720"/>
            </a:xfrm>
            <a:custGeom>
              <a:avLst/>
              <a:gdLst/>
              <a:ahLst/>
              <a:cxnLst/>
              <a:rect l="l" t="t" r="r" b="b"/>
              <a:pathLst>
                <a:path w="7583424" h="19507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7388352" y="0"/>
                  </a:lnTo>
                  <a:cubicBezTo>
                    <a:pt x="7496049" y="0"/>
                    <a:pt x="7583424" y="87376"/>
                    <a:pt x="7583424" y="195072"/>
                  </a:cubicBezTo>
                  <a:lnTo>
                    <a:pt x="7583424" y="1755648"/>
                  </a:lnTo>
                  <a:cubicBezTo>
                    <a:pt x="7583424" y="1863344"/>
                    <a:pt x="7496049" y="1950720"/>
                    <a:pt x="7388352" y="1950720"/>
                  </a:cubicBezTo>
                  <a:lnTo>
                    <a:pt x="195072" y="1950720"/>
                  </a:lnTo>
                  <a:cubicBezTo>
                    <a:pt x="87376" y="1950720"/>
                    <a:pt x="0" y="1863344"/>
                    <a:pt x="0" y="1755648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1521440" y="3383280"/>
            <a:ext cx="1243584" cy="1243584"/>
            <a:chOff x="0" y="0"/>
            <a:chExt cx="1658112" cy="16581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3002768" y="3383280"/>
            <a:ext cx="1243584" cy="1243584"/>
            <a:chOff x="0" y="0"/>
            <a:chExt cx="1658112" cy="16581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4484096" y="3383280"/>
            <a:ext cx="1243584" cy="1243584"/>
            <a:chOff x="0" y="0"/>
            <a:chExt cx="1658112" cy="16581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5965424" y="3383280"/>
            <a:ext cx="1243584" cy="1243584"/>
            <a:chOff x="0" y="0"/>
            <a:chExt cx="1658112" cy="16581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1521440" y="4864608"/>
            <a:ext cx="1243584" cy="1243584"/>
            <a:chOff x="0" y="0"/>
            <a:chExt cx="1658112" cy="165811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3002768" y="4864608"/>
            <a:ext cx="1243584" cy="1243584"/>
            <a:chOff x="0" y="0"/>
            <a:chExt cx="1658112" cy="16581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4484096" y="4864608"/>
            <a:ext cx="1243584" cy="1243584"/>
            <a:chOff x="0" y="0"/>
            <a:chExt cx="1658112" cy="16581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5965424" y="4864608"/>
            <a:ext cx="1243584" cy="1243584"/>
            <a:chOff x="0" y="0"/>
            <a:chExt cx="1658112" cy="165811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1521440" y="6345936"/>
            <a:ext cx="1243584" cy="1243584"/>
            <a:chOff x="0" y="0"/>
            <a:chExt cx="1658112" cy="165811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3002768" y="6345936"/>
            <a:ext cx="1243584" cy="1243584"/>
            <a:chOff x="0" y="0"/>
            <a:chExt cx="1658112" cy="16581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4484096" y="6345936"/>
            <a:ext cx="1243584" cy="1243584"/>
            <a:chOff x="0" y="0"/>
            <a:chExt cx="1658112" cy="165811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5965424" y="6345936"/>
            <a:ext cx="1243584" cy="1243584"/>
            <a:chOff x="0" y="0"/>
            <a:chExt cx="1658112" cy="165811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1521440" y="7827264"/>
            <a:ext cx="1243584" cy="1243584"/>
            <a:chOff x="0" y="0"/>
            <a:chExt cx="1658112" cy="165811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3002768" y="7827264"/>
            <a:ext cx="1243584" cy="1243584"/>
            <a:chOff x="0" y="0"/>
            <a:chExt cx="1658112" cy="165811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4484096" y="7827264"/>
            <a:ext cx="1243584" cy="1243584"/>
            <a:chOff x="0" y="0"/>
            <a:chExt cx="1658112" cy="165811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5965424" y="7827264"/>
            <a:ext cx="1243584" cy="1243584"/>
            <a:chOff x="0" y="0"/>
            <a:chExt cx="1658112" cy="165811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9418320"/>
            <a:ext cx="9144000" cy="548640"/>
            <a:chOff x="0" y="0"/>
            <a:chExt cx="121920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731520"/>
            </a:xfrm>
            <a:custGeom>
              <a:avLst/>
              <a:gdLst/>
              <a:ahLst/>
              <a:cxnLst/>
              <a:rect l="l" t="t" r="r" b="b"/>
              <a:pathLst>
                <a:path w="12192000" h="73152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750" b="-27475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21920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6F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Scientific &amp; Advanced Calculator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97280" y="1242060"/>
            <a:ext cx="1024128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2325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54857" y="3600641"/>
            <a:ext cx="523817" cy="523817"/>
            <a:chOff x="0" y="0"/>
            <a:chExt cx="1024128" cy="10241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F202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54857" y="4402167"/>
            <a:ext cx="523817" cy="523817"/>
            <a:chOff x="0" y="0"/>
            <a:chExt cx="1024128" cy="1024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F202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54857" y="5219700"/>
            <a:ext cx="523817" cy="523817"/>
            <a:chOff x="0" y="0"/>
            <a:chExt cx="1024128" cy="10241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F202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10160" y="1526204"/>
            <a:ext cx="4426934" cy="7335969"/>
            <a:chOff x="0" y="0"/>
            <a:chExt cx="5902579" cy="9781292"/>
          </a:xfrm>
        </p:grpSpPr>
        <p:sp>
          <p:nvSpPr>
            <p:cNvPr id="16" name="Freeform 16" descr="Screenshot of the Scientific home screen"/>
            <p:cNvSpPr/>
            <p:nvPr/>
          </p:nvSpPr>
          <p:spPr>
            <a:xfrm>
              <a:off x="0" y="0"/>
              <a:ext cx="5902579" cy="9781291"/>
            </a:xfrm>
            <a:custGeom>
              <a:avLst/>
              <a:gdLst/>
              <a:ahLst/>
              <a:cxnLst/>
              <a:rect l="l" t="t" r="r" b="b"/>
              <a:pathLst>
                <a:path w="5902579" h="9781291">
                  <a:moveTo>
                    <a:pt x="165100" y="0"/>
                  </a:moveTo>
                  <a:lnTo>
                    <a:pt x="5737479" y="0"/>
                  </a:lnTo>
                  <a:cubicBezTo>
                    <a:pt x="5828661" y="0"/>
                    <a:pt x="5902579" y="73918"/>
                    <a:pt x="5902579" y="165100"/>
                  </a:cubicBezTo>
                  <a:lnTo>
                    <a:pt x="5902579" y="9616191"/>
                  </a:lnTo>
                  <a:cubicBezTo>
                    <a:pt x="5902579" y="9659979"/>
                    <a:pt x="5885185" y="9701972"/>
                    <a:pt x="5854222" y="9732935"/>
                  </a:cubicBezTo>
                  <a:cubicBezTo>
                    <a:pt x="5823260" y="9763897"/>
                    <a:pt x="5781266" y="9781291"/>
                    <a:pt x="5737479" y="9781291"/>
                  </a:cubicBezTo>
                  <a:lnTo>
                    <a:pt x="165100" y="9781291"/>
                  </a:lnTo>
                  <a:cubicBezTo>
                    <a:pt x="121313" y="9781291"/>
                    <a:pt x="79319" y="9763897"/>
                    <a:pt x="48357" y="9732935"/>
                  </a:cubicBezTo>
                  <a:cubicBezTo>
                    <a:pt x="17394" y="9701972"/>
                    <a:pt x="0" y="9659979"/>
                    <a:pt x="0" y="9616191"/>
                  </a:cubicBezTo>
                  <a:lnTo>
                    <a:pt x="0" y="165100"/>
                  </a:ln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blipFill>
              <a:blip r:embed="rId4"/>
              <a:stretch>
                <a:fillRect t="-3597" b="-3597"/>
              </a:stretch>
            </a:blipFill>
            <a:ln w="857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6093440" y="9399270"/>
            <a:ext cx="109728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6B6F7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86000" y="3700624"/>
            <a:ext cx="6917532" cy="278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build an advanced GUI calculator that goes beyond basic arithmetic.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86000" y="4315460"/>
            <a:ext cx="8009930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or students and data analysts who wants to do graphic, statistical analysis, and advanced math in a single, unified workspace.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86000" y="5290156"/>
            <a:ext cx="8009930" cy="316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aims for mathematical accuracy and a layout that is easy to use.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5A591D-1268-D08A-30F1-5968D9742253}"/>
              </a:ext>
            </a:extLst>
          </p:cNvPr>
          <p:cNvCxnSpPr>
            <a:cxnSpLocks/>
          </p:cNvCxnSpPr>
          <p:nvPr/>
        </p:nvCxnSpPr>
        <p:spPr>
          <a:xfrm>
            <a:off x="12801600" y="1562100"/>
            <a:ext cx="4335494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9418320"/>
            <a:ext cx="9144000" cy="548640"/>
            <a:chOff x="0" y="0"/>
            <a:chExt cx="121920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731520"/>
            </a:xfrm>
            <a:custGeom>
              <a:avLst/>
              <a:gdLst/>
              <a:ahLst/>
              <a:cxnLst/>
              <a:rect l="l" t="t" r="r" b="b"/>
              <a:pathLst>
                <a:path w="12192000" h="73152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750" b="-27475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21920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6F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Scientific &amp; Advanced Calculator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034796"/>
            <a:ext cx="1609344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2325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Tech-stack and Architecture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71919" y="2776925"/>
            <a:ext cx="2529682" cy="457200"/>
            <a:chOff x="0" y="0"/>
            <a:chExt cx="3372909" cy="60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72909" cy="609600"/>
            </a:xfrm>
            <a:custGeom>
              <a:avLst/>
              <a:gdLst/>
              <a:ahLst/>
              <a:cxnLst/>
              <a:rect l="l" t="t" r="r" b="b"/>
              <a:pathLst>
                <a:path w="3372909" h="609600">
                  <a:moveTo>
                    <a:pt x="0" y="0"/>
                  </a:moveTo>
                  <a:lnTo>
                    <a:pt x="3372909" y="0"/>
                  </a:lnTo>
                  <a:lnTo>
                    <a:pt x="337290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r="-189174" b="-261760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3372909" cy="628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399">
                  <a:solidFill>
                    <a:srgbClr val="B35F0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 STACK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502572" y="2503355"/>
            <a:ext cx="7886573" cy="595277"/>
            <a:chOff x="-761831" y="0"/>
            <a:chExt cx="10515431" cy="7937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53600" cy="609600"/>
            </a:xfrm>
            <a:custGeom>
              <a:avLst/>
              <a:gdLst/>
              <a:ahLst/>
              <a:cxnLst/>
              <a:rect l="l" t="t" r="r" b="b"/>
              <a:pathLst>
                <a:path w="9753600" h="609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-761831" y="165051"/>
              <a:ext cx="9753600" cy="6286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 spc="399" dirty="0">
                  <a:solidFill>
                    <a:srgbClr val="B35F0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ARCHITECTURE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093440" y="9399270"/>
            <a:ext cx="109728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6B6F7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52844" y="3587818"/>
            <a:ext cx="7270991" cy="803002"/>
            <a:chOff x="0" y="0"/>
            <a:chExt cx="3223533" cy="3560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23533" cy="356004"/>
            </a:xfrm>
            <a:custGeom>
              <a:avLst/>
              <a:gdLst/>
              <a:ahLst/>
              <a:cxnLst/>
              <a:rect l="l" t="t" r="r" b="b"/>
              <a:pathLst>
                <a:path w="3223533" h="356004">
                  <a:moveTo>
                    <a:pt x="0" y="0"/>
                  </a:moveTo>
                  <a:lnTo>
                    <a:pt x="3223533" y="0"/>
                  </a:lnTo>
                  <a:lnTo>
                    <a:pt x="3223533" y="356004"/>
                  </a:lnTo>
                  <a:lnTo>
                    <a:pt x="0" y="356004"/>
                  </a:lnTo>
                  <a:close/>
                </a:path>
              </a:pathLst>
            </a:custGeom>
            <a:solidFill>
              <a:srgbClr val="E9A452">
                <a:alpha val="11373"/>
              </a:srgbClr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028700" y="3668009"/>
            <a:ext cx="6715321" cy="61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dirty="0">
                <a:solidFill>
                  <a:srgbClr val="000000">
                    <a:alpha val="82745"/>
                  </a:srgbClr>
                </a:solidFill>
                <a:latin typeface="Belleza"/>
                <a:ea typeface="Belleza"/>
                <a:cs typeface="Belleza"/>
                <a:sym typeface="Belleza"/>
              </a:rPr>
              <a:t>CustomTkinter: Builds the main window, keypad and layout of the application.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52844" y="4686095"/>
            <a:ext cx="7270991" cy="803002"/>
            <a:chOff x="0" y="0"/>
            <a:chExt cx="3223533" cy="3560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223533" cy="356004"/>
            </a:xfrm>
            <a:custGeom>
              <a:avLst/>
              <a:gdLst/>
              <a:ahLst/>
              <a:cxnLst/>
              <a:rect l="l" t="t" r="r" b="b"/>
              <a:pathLst>
                <a:path w="3223533" h="356004">
                  <a:moveTo>
                    <a:pt x="0" y="0"/>
                  </a:moveTo>
                  <a:lnTo>
                    <a:pt x="3223533" y="0"/>
                  </a:lnTo>
                  <a:lnTo>
                    <a:pt x="3223533" y="356004"/>
                  </a:lnTo>
                  <a:lnTo>
                    <a:pt x="0" y="356004"/>
                  </a:lnTo>
                  <a:close/>
                </a:path>
              </a:pathLst>
            </a:custGeom>
            <a:solidFill>
              <a:srgbClr val="E9A452">
                <a:alpha val="11373"/>
              </a:srgbClr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028700" y="4944307"/>
            <a:ext cx="6715321" cy="316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dirty="0">
                <a:solidFill>
                  <a:srgbClr val="000000">
                    <a:alpha val="82745"/>
                  </a:srgbClr>
                </a:solidFill>
                <a:latin typeface="Belleza"/>
                <a:ea typeface="Belleza"/>
                <a:cs typeface="Belleza"/>
                <a:sym typeface="Belleza"/>
              </a:rPr>
              <a:t>SymPy: Solves equations and handles symbolic </a:t>
            </a:r>
            <a:r>
              <a:rPr lang="en-US" sz="1899" dirty="0" err="1">
                <a:solidFill>
                  <a:srgbClr val="000000">
                    <a:alpha val="82745"/>
                  </a:srgbClr>
                </a:solidFill>
                <a:latin typeface="Belleza"/>
                <a:ea typeface="Belleza"/>
                <a:cs typeface="Belleza"/>
                <a:sym typeface="Belleza"/>
              </a:rPr>
              <a:t>maths</a:t>
            </a:r>
            <a:r>
              <a:rPr lang="en-US" sz="1899" dirty="0">
                <a:solidFill>
                  <a:srgbClr val="000000">
                    <a:alpha val="82745"/>
                  </a:srgbClr>
                </a:solidFill>
                <a:latin typeface="Belleza"/>
                <a:ea typeface="Belleza"/>
                <a:cs typeface="Belleza"/>
                <a:sym typeface="Belleza"/>
              </a:rPr>
              <a:t>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52844" y="5775778"/>
            <a:ext cx="7270991" cy="803002"/>
            <a:chOff x="0" y="0"/>
            <a:chExt cx="3223533" cy="35600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223533" cy="356004"/>
            </a:xfrm>
            <a:custGeom>
              <a:avLst/>
              <a:gdLst/>
              <a:ahLst/>
              <a:cxnLst/>
              <a:rect l="l" t="t" r="r" b="b"/>
              <a:pathLst>
                <a:path w="3223533" h="356004">
                  <a:moveTo>
                    <a:pt x="0" y="0"/>
                  </a:moveTo>
                  <a:lnTo>
                    <a:pt x="3223533" y="0"/>
                  </a:lnTo>
                  <a:lnTo>
                    <a:pt x="3223533" y="356004"/>
                  </a:lnTo>
                  <a:lnTo>
                    <a:pt x="0" y="356004"/>
                  </a:lnTo>
                  <a:close/>
                </a:path>
              </a:pathLst>
            </a:custGeom>
            <a:solidFill>
              <a:srgbClr val="E9A452">
                <a:alpha val="11373"/>
              </a:srgbClr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028700" y="5833434"/>
            <a:ext cx="6564718" cy="61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dirty="0">
                <a:solidFill>
                  <a:srgbClr val="000000">
                    <a:alpha val="82745"/>
                  </a:srgbClr>
                </a:solidFill>
                <a:latin typeface="Belleza"/>
                <a:ea typeface="Belleza"/>
                <a:cs typeface="Belleza"/>
                <a:sym typeface="Belleza"/>
              </a:rPr>
              <a:t>Matplotlib &amp; NumPy: Draw the graphs and manage the numerical data supporting them.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52844" y="6877148"/>
            <a:ext cx="7270991" cy="803002"/>
            <a:chOff x="0" y="0"/>
            <a:chExt cx="3223533" cy="3560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223533" cy="356004"/>
            </a:xfrm>
            <a:custGeom>
              <a:avLst/>
              <a:gdLst/>
              <a:ahLst/>
              <a:cxnLst/>
              <a:rect l="l" t="t" r="r" b="b"/>
              <a:pathLst>
                <a:path w="3223533" h="356004">
                  <a:moveTo>
                    <a:pt x="0" y="0"/>
                  </a:moveTo>
                  <a:lnTo>
                    <a:pt x="3223533" y="0"/>
                  </a:lnTo>
                  <a:lnTo>
                    <a:pt x="3223533" y="356004"/>
                  </a:lnTo>
                  <a:lnTo>
                    <a:pt x="0" y="356004"/>
                  </a:lnTo>
                  <a:close/>
                </a:path>
              </a:pathLst>
            </a:custGeom>
            <a:solidFill>
              <a:srgbClr val="E9A452">
                <a:alpha val="11373"/>
              </a:srgbClr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028700" y="6950256"/>
            <a:ext cx="6414352" cy="61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>
                <a:solidFill>
                  <a:srgbClr val="000000">
                    <a:alpha val="82745"/>
                  </a:srgbClr>
                </a:solidFill>
                <a:latin typeface="Belleza"/>
                <a:ea typeface="Belleza"/>
                <a:cs typeface="Belleza"/>
                <a:sym typeface="Belleza"/>
              </a:rPr>
              <a:t>AST (Python): Checks each expression before it is calculated, so only valid maths is evaluated.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91625" y="3989319"/>
            <a:ext cx="148631" cy="117296"/>
            <a:chOff x="0" y="0"/>
            <a:chExt cx="198174" cy="1645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8174" cy="164592"/>
            </a:xfrm>
            <a:custGeom>
              <a:avLst/>
              <a:gdLst/>
              <a:ahLst/>
              <a:cxnLst/>
              <a:rect l="l" t="t" r="r" b="b"/>
              <a:pathLst>
                <a:path w="198174" h="164592">
                  <a:moveTo>
                    <a:pt x="0" y="82296"/>
                  </a:moveTo>
                  <a:cubicBezTo>
                    <a:pt x="0" y="36830"/>
                    <a:pt x="44345" y="0"/>
                    <a:pt x="99087" y="0"/>
                  </a:cubicBezTo>
                  <a:cubicBezTo>
                    <a:pt x="153830" y="0"/>
                    <a:pt x="198174" y="36830"/>
                    <a:pt x="198174" y="82296"/>
                  </a:cubicBezTo>
                  <a:cubicBezTo>
                    <a:pt x="198174" y="127762"/>
                    <a:pt x="153830" y="164592"/>
                    <a:pt x="99087" y="164592"/>
                  </a:cubicBezTo>
                  <a:cubicBezTo>
                    <a:pt x="44345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E9A452">
                <a:alpha val="82745"/>
              </a:srgbClr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691625" y="5130269"/>
            <a:ext cx="148631" cy="123444"/>
            <a:chOff x="0" y="0"/>
            <a:chExt cx="198174" cy="1645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8174" cy="164592"/>
            </a:xfrm>
            <a:custGeom>
              <a:avLst/>
              <a:gdLst/>
              <a:ahLst/>
              <a:cxnLst/>
              <a:rect l="l" t="t" r="r" b="b"/>
              <a:pathLst>
                <a:path w="198174" h="164592">
                  <a:moveTo>
                    <a:pt x="0" y="82296"/>
                  </a:moveTo>
                  <a:cubicBezTo>
                    <a:pt x="0" y="36830"/>
                    <a:pt x="44345" y="0"/>
                    <a:pt x="99087" y="0"/>
                  </a:cubicBezTo>
                  <a:cubicBezTo>
                    <a:pt x="153830" y="0"/>
                    <a:pt x="198174" y="36830"/>
                    <a:pt x="198174" y="82296"/>
                  </a:cubicBezTo>
                  <a:cubicBezTo>
                    <a:pt x="198174" y="127762"/>
                    <a:pt x="153830" y="164592"/>
                    <a:pt x="99087" y="164592"/>
                  </a:cubicBezTo>
                  <a:cubicBezTo>
                    <a:pt x="44345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E9A452">
                <a:alpha val="82745"/>
              </a:srgbClr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91625" y="6177279"/>
            <a:ext cx="148631" cy="123444"/>
            <a:chOff x="0" y="0"/>
            <a:chExt cx="198174" cy="16459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98174" cy="164592"/>
            </a:xfrm>
            <a:custGeom>
              <a:avLst/>
              <a:gdLst/>
              <a:ahLst/>
              <a:cxnLst/>
              <a:rect l="l" t="t" r="r" b="b"/>
              <a:pathLst>
                <a:path w="198174" h="164592">
                  <a:moveTo>
                    <a:pt x="0" y="82296"/>
                  </a:moveTo>
                  <a:cubicBezTo>
                    <a:pt x="0" y="36830"/>
                    <a:pt x="44345" y="0"/>
                    <a:pt x="99087" y="0"/>
                  </a:cubicBezTo>
                  <a:cubicBezTo>
                    <a:pt x="153830" y="0"/>
                    <a:pt x="198174" y="36830"/>
                    <a:pt x="198174" y="82296"/>
                  </a:cubicBezTo>
                  <a:cubicBezTo>
                    <a:pt x="198174" y="127762"/>
                    <a:pt x="153830" y="164592"/>
                    <a:pt x="99087" y="164592"/>
                  </a:cubicBezTo>
                  <a:cubicBezTo>
                    <a:pt x="44345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E9A452">
                <a:alpha val="82745"/>
              </a:srgbClr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97775" y="7216927"/>
            <a:ext cx="148289" cy="123444"/>
            <a:chOff x="0" y="0"/>
            <a:chExt cx="197718" cy="16459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7718" cy="164592"/>
            </a:xfrm>
            <a:custGeom>
              <a:avLst/>
              <a:gdLst/>
              <a:ahLst/>
              <a:cxnLst/>
              <a:rect l="l" t="t" r="r" b="b"/>
              <a:pathLst>
                <a:path w="197718" h="164592">
                  <a:moveTo>
                    <a:pt x="0" y="82296"/>
                  </a:moveTo>
                  <a:cubicBezTo>
                    <a:pt x="0" y="36830"/>
                    <a:pt x="44242" y="0"/>
                    <a:pt x="98859" y="0"/>
                  </a:cubicBezTo>
                  <a:cubicBezTo>
                    <a:pt x="153476" y="0"/>
                    <a:pt x="197718" y="36830"/>
                    <a:pt x="197718" y="82296"/>
                  </a:cubicBezTo>
                  <a:cubicBezTo>
                    <a:pt x="197718" y="127762"/>
                    <a:pt x="153476" y="164592"/>
                    <a:pt x="98859" y="164592"/>
                  </a:cubicBezTo>
                  <a:cubicBezTo>
                    <a:pt x="44242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E9A452">
                <a:alpha val="82745"/>
              </a:srgbClr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8405619" y="5520357"/>
            <a:ext cx="2026791" cy="1222771"/>
            <a:chOff x="0" y="0"/>
            <a:chExt cx="2871072" cy="195072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4" name="Freeform 34"/>
            <p:cNvSpPr/>
            <p:nvPr/>
          </p:nvSpPr>
          <p:spPr>
            <a:xfrm>
              <a:off x="0" y="0"/>
              <a:ext cx="2871072" cy="1950720"/>
            </a:xfrm>
            <a:custGeom>
              <a:avLst/>
              <a:gdLst/>
              <a:ahLst/>
              <a:cxnLst/>
              <a:rect l="l" t="t" r="r" b="b"/>
              <a:pathLst>
                <a:path w="2871072" h="1950720">
                  <a:moveTo>
                    <a:pt x="0" y="243840"/>
                  </a:moveTo>
                  <a:cubicBezTo>
                    <a:pt x="0" y="109220"/>
                    <a:pt x="116909" y="0"/>
                    <a:pt x="261007" y="0"/>
                  </a:cubicBezTo>
                  <a:lnTo>
                    <a:pt x="2610065" y="0"/>
                  </a:lnTo>
                  <a:cubicBezTo>
                    <a:pt x="2754163" y="0"/>
                    <a:pt x="2871072" y="109220"/>
                    <a:pt x="2871072" y="243840"/>
                  </a:cubicBezTo>
                  <a:lnTo>
                    <a:pt x="2871072" y="1706880"/>
                  </a:lnTo>
                  <a:cubicBezTo>
                    <a:pt x="2871072" y="1841500"/>
                    <a:pt x="2754163" y="1950720"/>
                    <a:pt x="2610065" y="1950720"/>
                  </a:cubicBezTo>
                  <a:lnTo>
                    <a:pt x="261007" y="1950720"/>
                  </a:lnTo>
                  <a:cubicBezTo>
                    <a:pt x="116909" y="1950720"/>
                    <a:pt x="0" y="1841500"/>
                    <a:pt x="0" y="1706880"/>
                  </a:cubicBezTo>
                  <a:close/>
                </a:path>
              </a:pathLst>
            </a:custGeom>
            <a:grpFill/>
          </p:spPr>
        </p:sp>
      </p:grpSp>
      <p:sp>
        <p:nvSpPr>
          <p:cNvPr id="37" name="TextBox 37"/>
          <p:cNvSpPr txBox="1"/>
          <p:nvPr/>
        </p:nvSpPr>
        <p:spPr>
          <a:xfrm>
            <a:off x="8533983" y="5613320"/>
            <a:ext cx="1753017" cy="1014984"/>
          </a:xfrm>
          <a:prstGeom prst="rect">
            <a:avLst/>
          </a:prstGeom>
          <a:solidFill>
            <a:schemeClr val="bg1"/>
          </a:solidFill>
        </p:spPr>
        <p:txBody>
          <a:bodyPr lIns="50800" tIns="50800" rIns="50800" bIns="50800" rtlCol="0" anchor="ctr"/>
          <a:lstStyle/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2325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main.py</a:t>
            </a:r>
          </a:p>
          <a:p>
            <a:pPr algn="ctr">
              <a:lnSpc>
                <a:spcPts val="2400"/>
              </a:lnSpc>
            </a:pPr>
            <a:r>
              <a:rPr lang="en-US" sz="2000" dirty="0">
                <a:solidFill>
                  <a:srgbClr val="6B6F78"/>
                </a:solidFill>
                <a:latin typeface="Calibri (MS)"/>
                <a:ea typeface="Calibri (MS)"/>
                <a:cs typeface="Calibri (MS)"/>
                <a:sym typeface="Calibri (MS)"/>
              </a:rPr>
              <a:t>Starts the application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1155680" y="5213039"/>
            <a:ext cx="2468880" cy="1463040"/>
            <a:chOff x="0" y="0"/>
            <a:chExt cx="3291840" cy="19507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291840" cy="1950720"/>
            </a:xfrm>
            <a:custGeom>
              <a:avLst/>
              <a:gdLst/>
              <a:ahLst/>
              <a:cxnLst/>
              <a:rect l="l" t="t" r="r" b="b"/>
              <a:pathLst>
                <a:path w="3291840" h="19507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048000" y="0"/>
                  </a:lnTo>
                  <a:cubicBezTo>
                    <a:pt x="3182620" y="0"/>
                    <a:pt x="3291840" y="109220"/>
                    <a:pt x="3291840" y="243840"/>
                  </a:cubicBezTo>
                  <a:lnTo>
                    <a:pt x="3291840" y="1706880"/>
                  </a:lnTo>
                  <a:cubicBezTo>
                    <a:pt x="3291840" y="1841500"/>
                    <a:pt x="3182620" y="1950720"/>
                    <a:pt x="3048000" y="1950720"/>
                  </a:cubicBezTo>
                  <a:lnTo>
                    <a:pt x="243840" y="1950720"/>
                  </a:lnTo>
                  <a:cubicBezTo>
                    <a:pt x="109220" y="1950720"/>
                    <a:pt x="0" y="1841500"/>
                    <a:pt x="0" y="1706880"/>
                  </a:cubicBezTo>
                  <a:close/>
                </a:path>
              </a:pathLst>
            </a:custGeom>
            <a:solidFill>
              <a:srgbClr val="F59E37">
                <a:alpha val="1569"/>
              </a:srgbClr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1265408" y="5322767"/>
            <a:ext cx="2249424" cy="1243584"/>
            <a:chOff x="0" y="0"/>
            <a:chExt cx="2999232" cy="165811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999232" cy="1658112"/>
            </a:xfrm>
            <a:custGeom>
              <a:avLst/>
              <a:gdLst/>
              <a:ahLst/>
              <a:cxnLst/>
              <a:rect l="l" t="t" r="r" b="b"/>
              <a:pathLst>
                <a:path w="299923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804160" y="0"/>
                  </a:lnTo>
                  <a:cubicBezTo>
                    <a:pt x="2911856" y="0"/>
                    <a:pt x="2999232" y="87376"/>
                    <a:pt x="2999232" y="195072"/>
                  </a:cubicBezTo>
                  <a:lnTo>
                    <a:pt x="2999232" y="1463040"/>
                  </a:lnTo>
                  <a:cubicBezTo>
                    <a:pt x="2999232" y="1570736"/>
                    <a:pt x="2911856" y="1658112"/>
                    <a:pt x="280416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2999232" cy="169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325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interface.py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6F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 window, display, history</a:t>
              </a:r>
            </a:p>
          </p:txBody>
        </p:sp>
      </p:grpSp>
      <p:sp>
        <p:nvSpPr>
          <p:cNvPr id="43" name="AutoShape 43"/>
          <p:cNvSpPr/>
          <p:nvPr/>
        </p:nvSpPr>
        <p:spPr>
          <a:xfrm>
            <a:off x="13608167" y="5944559"/>
            <a:ext cx="489976" cy="0"/>
          </a:xfrm>
          <a:prstGeom prst="line">
            <a:avLst/>
          </a:prstGeom>
          <a:ln w="28575" cap="rnd">
            <a:solidFill>
              <a:srgbClr val="B35F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AutoShape 44"/>
          <p:cNvSpPr/>
          <p:nvPr/>
        </p:nvSpPr>
        <p:spPr>
          <a:xfrm>
            <a:off x="14065887" y="3587818"/>
            <a:ext cx="31755" cy="4713482"/>
          </a:xfrm>
          <a:prstGeom prst="line">
            <a:avLst/>
          </a:prstGeom>
          <a:ln w="28575" cap="rnd">
            <a:solidFill>
              <a:srgbClr val="B35F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AutoShape 45"/>
          <p:cNvSpPr/>
          <p:nvPr/>
        </p:nvSpPr>
        <p:spPr>
          <a:xfrm>
            <a:off x="14065367" y="3603695"/>
            <a:ext cx="489976" cy="0"/>
          </a:xfrm>
          <a:prstGeom prst="line">
            <a:avLst/>
          </a:prstGeom>
          <a:ln w="28575" cap="rnd">
            <a:solidFill>
              <a:srgbClr val="B35F0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6" name="Group 46"/>
          <p:cNvGrpSpPr/>
          <p:nvPr/>
        </p:nvGrpSpPr>
        <p:grpSpPr>
          <a:xfrm>
            <a:off x="14538960" y="3100775"/>
            <a:ext cx="3383280" cy="1005840"/>
            <a:chOff x="0" y="0"/>
            <a:chExt cx="4511040" cy="13411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511040" cy="1341120"/>
            </a:xfrm>
            <a:custGeom>
              <a:avLst/>
              <a:gdLst/>
              <a:ahLst/>
              <a:cxnLst/>
              <a:rect l="l" t="t" r="r" b="b"/>
              <a:pathLst>
                <a:path w="4511040" h="13411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267200" y="0"/>
                  </a:lnTo>
                  <a:cubicBezTo>
                    <a:pt x="4401820" y="0"/>
                    <a:pt x="4511040" y="109220"/>
                    <a:pt x="4511040" y="243840"/>
                  </a:cubicBezTo>
                  <a:lnTo>
                    <a:pt x="4511040" y="1097280"/>
                  </a:lnTo>
                  <a:cubicBezTo>
                    <a:pt x="4511040" y="1231900"/>
                    <a:pt x="4401820" y="1341120"/>
                    <a:pt x="4267200" y="1341120"/>
                  </a:cubicBezTo>
                  <a:lnTo>
                    <a:pt x="243840" y="1341120"/>
                  </a:lnTo>
                  <a:cubicBezTo>
                    <a:pt x="109220" y="1341120"/>
                    <a:pt x="0" y="1231900"/>
                    <a:pt x="0" y="1097280"/>
                  </a:cubicBezTo>
                  <a:close/>
                </a:path>
              </a:pathLst>
            </a:custGeom>
            <a:solidFill>
              <a:srgbClr val="F59E37">
                <a:alpha val="1569"/>
              </a:srgbClr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4648688" y="3210503"/>
            <a:ext cx="3163824" cy="851409"/>
            <a:chOff x="0" y="0"/>
            <a:chExt cx="4218432" cy="113521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218432" cy="1135211"/>
            </a:xfrm>
            <a:custGeom>
              <a:avLst/>
              <a:gdLst/>
              <a:ahLst/>
              <a:cxnLst/>
              <a:rect l="l" t="t" r="r" b="b"/>
              <a:pathLst>
                <a:path w="4218432" h="1135211">
                  <a:moveTo>
                    <a:pt x="0" y="211202"/>
                  </a:moveTo>
                  <a:cubicBezTo>
                    <a:pt x="0" y="94601"/>
                    <a:pt x="87376" y="0"/>
                    <a:pt x="195072" y="0"/>
                  </a:cubicBezTo>
                  <a:lnTo>
                    <a:pt x="4023360" y="0"/>
                  </a:lnTo>
                  <a:cubicBezTo>
                    <a:pt x="4131056" y="0"/>
                    <a:pt x="4218432" y="94601"/>
                    <a:pt x="4218432" y="211202"/>
                  </a:cubicBezTo>
                  <a:lnTo>
                    <a:pt x="4218432" y="924009"/>
                  </a:lnTo>
                  <a:cubicBezTo>
                    <a:pt x="4218432" y="1040610"/>
                    <a:pt x="4131056" y="1135211"/>
                    <a:pt x="4023360" y="1135211"/>
                  </a:cubicBezTo>
                  <a:lnTo>
                    <a:pt x="195072" y="1135211"/>
                  </a:lnTo>
                  <a:cubicBezTo>
                    <a:pt x="87376" y="1135211"/>
                    <a:pt x="0" y="1040610"/>
                    <a:pt x="0" y="9240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4218432" cy="1173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325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keypads.py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6F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Button layout  for each mode</a:t>
              </a:r>
            </a:p>
          </p:txBody>
        </p:sp>
      </p:grpSp>
      <p:sp>
        <p:nvSpPr>
          <p:cNvPr id="51" name="AutoShape 51"/>
          <p:cNvSpPr/>
          <p:nvPr/>
        </p:nvSpPr>
        <p:spPr>
          <a:xfrm>
            <a:off x="14065367" y="4774127"/>
            <a:ext cx="489976" cy="0"/>
          </a:xfrm>
          <a:prstGeom prst="line">
            <a:avLst/>
          </a:prstGeom>
          <a:ln w="28575" cap="rnd">
            <a:solidFill>
              <a:srgbClr val="B35F0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2" name="Group 52"/>
          <p:cNvGrpSpPr/>
          <p:nvPr/>
        </p:nvGrpSpPr>
        <p:grpSpPr>
          <a:xfrm>
            <a:off x="14538960" y="4271207"/>
            <a:ext cx="3383280" cy="1005840"/>
            <a:chOff x="0" y="0"/>
            <a:chExt cx="4511040" cy="13411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511040" cy="1341120"/>
            </a:xfrm>
            <a:custGeom>
              <a:avLst/>
              <a:gdLst/>
              <a:ahLst/>
              <a:cxnLst/>
              <a:rect l="l" t="t" r="r" b="b"/>
              <a:pathLst>
                <a:path w="4511040" h="13411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267200" y="0"/>
                  </a:lnTo>
                  <a:cubicBezTo>
                    <a:pt x="4401820" y="0"/>
                    <a:pt x="4511040" y="109220"/>
                    <a:pt x="4511040" y="243840"/>
                  </a:cubicBezTo>
                  <a:lnTo>
                    <a:pt x="4511040" y="1097280"/>
                  </a:lnTo>
                  <a:cubicBezTo>
                    <a:pt x="4511040" y="1231900"/>
                    <a:pt x="4401820" y="1341120"/>
                    <a:pt x="4267200" y="1341120"/>
                  </a:cubicBezTo>
                  <a:lnTo>
                    <a:pt x="243840" y="1341120"/>
                  </a:lnTo>
                  <a:cubicBezTo>
                    <a:pt x="109220" y="1341120"/>
                    <a:pt x="0" y="1231900"/>
                    <a:pt x="0" y="1097280"/>
                  </a:cubicBezTo>
                  <a:close/>
                </a:path>
              </a:pathLst>
            </a:custGeom>
            <a:solidFill>
              <a:srgbClr val="F59E37">
                <a:alpha val="1569"/>
              </a:srgbClr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4648688" y="4380935"/>
            <a:ext cx="3163824" cy="786384"/>
            <a:chOff x="0" y="0"/>
            <a:chExt cx="4218432" cy="104851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218432" cy="1048512"/>
            </a:xfrm>
            <a:custGeom>
              <a:avLst/>
              <a:gdLst/>
              <a:ahLst/>
              <a:cxnLst/>
              <a:rect l="l" t="t" r="r" b="b"/>
              <a:pathLst>
                <a:path w="4218432" h="10485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4023360" y="0"/>
                  </a:lnTo>
                  <a:cubicBezTo>
                    <a:pt x="4131056" y="0"/>
                    <a:pt x="4218432" y="87376"/>
                    <a:pt x="4218432" y="195072"/>
                  </a:cubicBezTo>
                  <a:lnTo>
                    <a:pt x="4218432" y="853440"/>
                  </a:lnTo>
                  <a:cubicBezTo>
                    <a:pt x="4218432" y="961136"/>
                    <a:pt x="4131056" y="1048512"/>
                    <a:pt x="4023360" y="1048512"/>
                  </a:cubicBezTo>
                  <a:lnTo>
                    <a:pt x="195072" y="1048512"/>
                  </a:lnTo>
                  <a:cubicBezTo>
                    <a:pt x="87376" y="1048512"/>
                    <a:pt x="0" y="961136"/>
                    <a:pt x="0" y="8534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4218432" cy="1086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325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theme.py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6F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Colours and fonts</a:t>
              </a:r>
            </a:p>
          </p:txBody>
        </p:sp>
      </p:grpSp>
      <p:sp>
        <p:nvSpPr>
          <p:cNvPr id="57" name="AutoShape 57"/>
          <p:cNvSpPr/>
          <p:nvPr/>
        </p:nvSpPr>
        <p:spPr>
          <a:xfrm flipV="1">
            <a:off x="14081765" y="5944559"/>
            <a:ext cx="457195" cy="0"/>
          </a:xfrm>
          <a:prstGeom prst="line">
            <a:avLst/>
          </a:prstGeom>
          <a:ln w="28575" cap="rnd">
            <a:solidFill>
              <a:srgbClr val="B35F0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8" name="Group 58"/>
          <p:cNvGrpSpPr/>
          <p:nvPr/>
        </p:nvGrpSpPr>
        <p:grpSpPr>
          <a:xfrm>
            <a:off x="14538960" y="5441639"/>
            <a:ext cx="3383280" cy="1005840"/>
            <a:chOff x="0" y="0"/>
            <a:chExt cx="4511040" cy="13411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511040" cy="1341120"/>
            </a:xfrm>
            <a:custGeom>
              <a:avLst/>
              <a:gdLst/>
              <a:ahLst/>
              <a:cxnLst/>
              <a:rect l="l" t="t" r="r" b="b"/>
              <a:pathLst>
                <a:path w="4511040" h="13411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267200" y="0"/>
                  </a:lnTo>
                  <a:cubicBezTo>
                    <a:pt x="4401820" y="0"/>
                    <a:pt x="4511040" y="109220"/>
                    <a:pt x="4511040" y="243840"/>
                  </a:cubicBezTo>
                  <a:lnTo>
                    <a:pt x="4511040" y="1097280"/>
                  </a:lnTo>
                  <a:cubicBezTo>
                    <a:pt x="4511040" y="1231900"/>
                    <a:pt x="4401820" y="1341120"/>
                    <a:pt x="4267200" y="1341120"/>
                  </a:cubicBezTo>
                  <a:lnTo>
                    <a:pt x="243840" y="1341120"/>
                  </a:lnTo>
                  <a:cubicBezTo>
                    <a:pt x="109220" y="1341120"/>
                    <a:pt x="0" y="1231900"/>
                    <a:pt x="0" y="1097280"/>
                  </a:cubicBezTo>
                  <a:close/>
                </a:path>
              </a:pathLst>
            </a:custGeom>
            <a:solidFill>
              <a:srgbClr val="F59E37">
                <a:alpha val="1569"/>
              </a:srgbClr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4648688" y="5551367"/>
            <a:ext cx="3163824" cy="851409"/>
            <a:chOff x="0" y="0"/>
            <a:chExt cx="4218432" cy="1135211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218432" cy="1135211"/>
            </a:xfrm>
            <a:custGeom>
              <a:avLst/>
              <a:gdLst/>
              <a:ahLst/>
              <a:cxnLst/>
              <a:rect l="l" t="t" r="r" b="b"/>
              <a:pathLst>
                <a:path w="4218432" h="1135211">
                  <a:moveTo>
                    <a:pt x="0" y="211202"/>
                  </a:moveTo>
                  <a:cubicBezTo>
                    <a:pt x="0" y="94601"/>
                    <a:pt x="87376" y="0"/>
                    <a:pt x="195072" y="0"/>
                  </a:cubicBezTo>
                  <a:lnTo>
                    <a:pt x="4023360" y="0"/>
                  </a:lnTo>
                  <a:cubicBezTo>
                    <a:pt x="4131056" y="0"/>
                    <a:pt x="4218432" y="94601"/>
                    <a:pt x="4218432" y="211202"/>
                  </a:cubicBezTo>
                  <a:lnTo>
                    <a:pt x="4218432" y="924009"/>
                  </a:lnTo>
                  <a:cubicBezTo>
                    <a:pt x="4218432" y="1040610"/>
                    <a:pt x="4131056" y="1135211"/>
                    <a:pt x="4023360" y="1135211"/>
                  </a:cubicBezTo>
                  <a:lnTo>
                    <a:pt x="195072" y="1135211"/>
                  </a:lnTo>
                  <a:cubicBezTo>
                    <a:pt x="87376" y="1135211"/>
                    <a:pt x="0" y="1040610"/>
                    <a:pt x="0" y="9240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4218432" cy="1173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325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calculations.py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6F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Maths and equation solving</a:t>
              </a:r>
            </a:p>
          </p:txBody>
        </p:sp>
      </p:grpSp>
      <p:sp>
        <p:nvSpPr>
          <p:cNvPr id="63" name="AutoShape 63"/>
          <p:cNvSpPr/>
          <p:nvPr/>
        </p:nvSpPr>
        <p:spPr>
          <a:xfrm>
            <a:off x="14065367" y="7114991"/>
            <a:ext cx="489976" cy="0"/>
          </a:xfrm>
          <a:prstGeom prst="line">
            <a:avLst/>
          </a:prstGeom>
          <a:ln w="28575" cap="rnd">
            <a:solidFill>
              <a:srgbClr val="B35F0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64" name="Group 64"/>
          <p:cNvGrpSpPr/>
          <p:nvPr/>
        </p:nvGrpSpPr>
        <p:grpSpPr>
          <a:xfrm>
            <a:off x="14538960" y="6612071"/>
            <a:ext cx="3383280" cy="1005840"/>
            <a:chOff x="0" y="0"/>
            <a:chExt cx="4511040" cy="13411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511040" cy="1341120"/>
            </a:xfrm>
            <a:custGeom>
              <a:avLst/>
              <a:gdLst/>
              <a:ahLst/>
              <a:cxnLst/>
              <a:rect l="l" t="t" r="r" b="b"/>
              <a:pathLst>
                <a:path w="4511040" h="13411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267200" y="0"/>
                  </a:lnTo>
                  <a:cubicBezTo>
                    <a:pt x="4401820" y="0"/>
                    <a:pt x="4511040" y="109220"/>
                    <a:pt x="4511040" y="243840"/>
                  </a:cubicBezTo>
                  <a:lnTo>
                    <a:pt x="4511040" y="1097280"/>
                  </a:lnTo>
                  <a:cubicBezTo>
                    <a:pt x="4511040" y="1231900"/>
                    <a:pt x="4401820" y="1341120"/>
                    <a:pt x="4267200" y="1341120"/>
                  </a:cubicBezTo>
                  <a:lnTo>
                    <a:pt x="243840" y="1341120"/>
                  </a:lnTo>
                  <a:cubicBezTo>
                    <a:pt x="109220" y="1341120"/>
                    <a:pt x="0" y="1231900"/>
                    <a:pt x="0" y="1097280"/>
                  </a:cubicBezTo>
                  <a:close/>
                </a:path>
              </a:pathLst>
            </a:custGeom>
            <a:solidFill>
              <a:srgbClr val="F59E37">
                <a:alpha val="1569"/>
              </a:srgbClr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4648688" y="6721799"/>
            <a:ext cx="3163824" cy="786384"/>
            <a:chOff x="0" y="0"/>
            <a:chExt cx="4218432" cy="104851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218432" cy="1048512"/>
            </a:xfrm>
            <a:custGeom>
              <a:avLst/>
              <a:gdLst/>
              <a:ahLst/>
              <a:cxnLst/>
              <a:rect l="l" t="t" r="r" b="b"/>
              <a:pathLst>
                <a:path w="4218432" h="10485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4023360" y="0"/>
                  </a:lnTo>
                  <a:cubicBezTo>
                    <a:pt x="4131056" y="0"/>
                    <a:pt x="4218432" y="87376"/>
                    <a:pt x="4218432" y="195072"/>
                  </a:cubicBezTo>
                  <a:lnTo>
                    <a:pt x="4218432" y="853440"/>
                  </a:lnTo>
                  <a:cubicBezTo>
                    <a:pt x="4218432" y="961136"/>
                    <a:pt x="4131056" y="1048512"/>
                    <a:pt x="4023360" y="1048512"/>
                  </a:cubicBezTo>
                  <a:lnTo>
                    <a:pt x="195072" y="1048512"/>
                  </a:lnTo>
                  <a:cubicBezTo>
                    <a:pt x="87376" y="1048512"/>
                    <a:pt x="0" y="961136"/>
                    <a:pt x="0" y="8534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4218432" cy="1086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325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statistics_mode.py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6F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Statistics screen</a:t>
              </a:r>
            </a:p>
          </p:txBody>
        </p:sp>
      </p:grpSp>
      <p:sp>
        <p:nvSpPr>
          <p:cNvPr id="69" name="AutoShape 69"/>
          <p:cNvSpPr/>
          <p:nvPr/>
        </p:nvSpPr>
        <p:spPr>
          <a:xfrm>
            <a:off x="14074892" y="8285423"/>
            <a:ext cx="489976" cy="0"/>
          </a:xfrm>
          <a:prstGeom prst="line">
            <a:avLst/>
          </a:prstGeom>
          <a:ln w="28575" cap="rnd">
            <a:solidFill>
              <a:srgbClr val="B35F0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70" name="Group 70"/>
          <p:cNvGrpSpPr/>
          <p:nvPr/>
        </p:nvGrpSpPr>
        <p:grpSpPr>
          <a:xfrm>
            <a:off x="14538960" y="7782503"/>
            <a:ext cx="3383280" cy="1005840"/>
            <a:chOff x="0" y="0"/>
            <a:chExt cx="4511040" cy="134112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511040" cy="1341120"/>
            </a:xfrm>
            <a:custGeom>
              <a:avLst/>
              <a:gdLst/>
              <a:ahLst/>
              <a:cxnLst/>
              <a:rect l="l" t="t" r="r" b="b"/>
              <a:pathLst>
                <a:path w="4511040" h="134112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267200" y="0"/>
                  </a:lnTo>
                  <a:cubicBezTo>
                    <a:pt x="4401820" y="0"/>
                    <a:pt x="4511040" y="109220"/>
                    <a:pt x="4511040" y="243840"/>
                  </a:cubicBezTo>
                  <a:lnTo>
                    <a:pt x="4511040" y="1097280"/>
                  </a:lnTo>
                  <a:cubicBezTo>
                    <a:pt x="4511040" y="1231900"/>
                    <a:pt x="4401820" y="1341120"/>
                    <a:pt x="4267200" y="1341120"/>
                  </a:cubicBezTo>
                  <a:lnTo>
                    <a:pt x="243840" y="1341120"/>
                  </a:lnTo>
                  <a:cubicBezTo>
                    <a:pt x="109220" y="1341120"/>
                    <a:pt x="0" y="1231900"/>
                    <a:pt x="0" y="1097280"/>
                  </a:cubicBezTo>
                  <a:close/>
                </a:path>
              </a:pathLst>
            </a:custGeom>
            <a:solidFill>
              <a:srgbClr val="F59E37">
                <a:alpha val="1569"/>
              </a:srgbClr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14648688" y="7892231"/>
            <a:ext cx="3163824" cy="786384"/>
            <a:chOff x="0" y="0"/>
            <a:chExt cx="4218432" cy="104851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218432" cy="1048512"/>
            </a:xfrm>
            <a:custGeom>
              <a:avLst/>
              <a:gdLst/>
              <a:ahLst/>
              <a:cxnLst/>
              <a:rect l="l" t="t" r="r" b="b"/>
              <a:pathLst>
                <a:path w="4218432" h="10485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4023360" y="0"/>
                  </a:lnTo>
                  <a:cubicBezTo>
                    <a:pt x="4131056" y="0"/>
                    <a:pt x="4218432" y="87376"/>
                    <a:pt x="4218432" y="195072"/>
                  </a:cubicBezTo>
                  <a:lnTo>
                    <a:pt x="4218432" y="853440"/>
                  </a:lnTo>
                  <a:cubicBezTo>
                    <a:pt x="4218432" y="961136"/>
                    <a:pt x="4131056" y="1048512"/>
                    <a:pt x="4023360" y="1048512"/>
                  </a:cubicBezTo>
                  <a:lnTo>
                    <a:pt x="195072" y="1048512"/>
                  </a:lnTo>
                  <a:cubicBezTo>
                    <a:pt x="87376" y="1048512"/>
                    <a:pt x="0" y="961136"/>
                    <a:pt x="0" y="8534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4218432" cy="1086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325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graph.py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6F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Plots and summary</a:t>
              </a:r>
            </a:p>
          </p:txBody>
        </p:sp>
      </p:grpSp>
      <p:sp>
        <p:nvSpPr>
          <p:cNvPr id="75" name="AutoShape 75"/>
          <p:cNvSpPr/>
          <p:nvPr/>
        </p:nvSpPr>
        <p:spPr>
          <a:xfrm>
            <a:off x="10607040" y="5944559"/>
            <a:ext cx="548640" cy="0"/>
          </a:xfrm>
          <a:prstGeom prst="line">
            <a:avLst/>
          </a:prstGeom>
          <a:ln w="28575" cap="rnd">
            <a:solidFill>
              <a:srgbClr val="B35F0F"/>
            </a:solidFill>
            <a:prstDash val="solid"/>
            <a:headEnd type="none" w="sm" len="sm"/>
            <a:tailEnd type="triangle" w="lg" len="med"/>
          </a:ln>
        </p:spPr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D261C60A-5237-E98D-AFF7-DB89A5BB4C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546" y="3141950"/>
            <a:ext cx="9441966" cy="5670242"/>
          </a:xfrm>
          <a:prstGeom prst="rect">
            <a:avLst/>
          </a:prstGeom>
        </p:spPr>
      </p:pic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363AEBA-2CAB-565A-AE9D-BCD1AE3AC1C0}"/>
              </a:ext>
            </a:extLst>
          </p:cNvPr>
          <p:cNvSpPr/>
          <p:nvPr/>
        </p:nvSpPr>
        <p:spPr>
          <a:xfrm>
            <a:off x="14564868" y="4031136"/>
            <a:ext cx="3113532" cy="118158"/>
          </a:xfrm>
          <a:prstGeom prst="roundRect">
            <a:avLst/>
          </a:prstGeom>
          <a:solidFill>
            <a:srgbClr val="FEF1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B3341D61-B2CF-B557-3C73-4D0809ACBC5E}"/>
              </a:ext>
            </a:extLst>
          </p:cNvPr>
          <p:cNvSpPr/>
          <p:nvPr/>
        </p:nvSpPr>
        <p:spPr>
          <a:xfrm>
            <a:off x="14564868" y="6325106"/>
            <a:ext cx="3113532" cy="118158"/>
          </a:xfrm>
          <a:prstGeom prst="roundRect">
            <a:avLst/>
          </a:prstGeom>
          <a:solidFill>
            <a:srgbClr val="FEF1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9418320"/>
            <a:ext cx="9144000" cy="548640"/>
            <a:chOff x="0" y="0"/>
            <a:chExt cx="121920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731520"/>
            </a:xfrm>
            <a:custGeom>
              <a:avLst/>
              <a:gdLst/>
              <a:ahLst/>
              <a:cxnLst/>
              <a:rect l="l" t="t" r="r" b="b"/>
              <a:pathLst>
                <a:path w="12192000" h="73152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750" b="-27475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21920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6F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Scientific &amp; Advanced Calculator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97280" y="1242060"/>
            <a:ext cx="1024128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2325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functionality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97280" y="3549689"/>
            <a:ext cx="600088" cy="538388"/>
            <a:chOff x="0" y="0"/>
            <a:chExt cx="919265" cy="8247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9265" cy="824748"/>
            </a:xfrm>
            <a:custGeom>
              <a:avLst/>
              <a:gdLst/>
              <a:ahLst/>
              <a:cxnLst/>
              <a:rect l="l" t="t" r="r" b="b"/>
              <a:pathLst>
                <a:path w="919265" h="824748">
                  <a:moveTo>
                    <a:pt x="0" y="412374"/>
                  </a:moveTo>
                  <a:cubicBezTo>
                    <a:pt x="0" y="184607"/>
                    <a:pt x="205763" y="0"/>
                    <a:pt x="459633" y="0"/>
                  </a:cubicBezTo>
                  <a:cubicBezTo>
                    <a:pt x="713502" y="0"/>
                    <a:pt x="919265" y="184607"/>
                    <a:pt x="919265" y="412374"/>
                  </a:cubicBezTo>
                  <a:cubicBezTo>
                    <a:pt x="919265" y="640141"/>
                    <a:pt x="713502" y="824748"/>
                    <a:pt x="459633" y="824748"/>
                  </a:cubicBezTo>
                  <a:cubicBezTo>
                    <a:pt x="205763" y="824748"/>
                    <a:pt x="0" y="640141"/>
                    <a:pt x="0" y="412374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919265" cy="843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1F202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7280" y="4485506"/>
            <a:ext cx="600088" cy="538388"/>
            <a:chOff x="0" y="0"/>
            <a:chExt cx="919265" cy="8247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9265" cy="824748"/>
            </a:xfrm>
            <a:custGeom>
              <a:avLst/>
              <a:gdLst/>
              <a:ahLst/>
              <a:cxnLst/>
              <a:rect l="l" t="t" r="r" b="b"/>
              <a:pathLst>
                <a:path w="919265" h="824748">
                  <a:moveTo>
                    <a:pt x="0" y="412374"/>
                  </a:moveTo>
                  <a:cubicBezTo>
                    <a:pt x="0" y="184607"/>
                    <a:pt x="205763" y="0"/>
                    <a:pt x="459633" y="0"/>
                  </a:cubicBezTo>
                  <a:cubicBezTo>
                    <a:pt x="713502" y="0"/>
                    <a:pt x="919265" y="184607"/>
                    <a:pt x="919265" y="412374"/>
                  </a:cubicBezTo>
                  <a:cubicBezTo>
                    <a:pt x="919265" y="640141"/>
                    <a:pt x="713502" y="824748"/>
                    <a:pt x="459633" y="824748"/>
                  </a:cubicBezTo>
                  <a:cubicBezTo>
                    <a:pt x="205763" y="824748"/>
                    <a:pt x="0" y="640141"/>
                    <a:pt x="0" y="412374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919265" cy="843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1F202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7280" y="5435893"/>
            <a:ext cx="600088" cy="538388"/>
            <a:chOff x="0" y="0"/>
            <a:chExt cx="919265" cy="8247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9265" cy="824748"/>
            </a:xfrm>
            <a:custGeom>
              <a:avLst/>
              <a:gdLst/>
              <a:ahLst/>
              <a:cxnLst/>
              <a:rect l="l" t="t" r="r" b="b"/>
              <a:pathLst>
                <a:path w="919265" h="824748">
                  <a:moveTo>
                    <a:pt x="0" y="412374"/>
                  </a:moveTo>
                  <a:cubicBezTo>
                    <a:pt x="0" y="184607"/>
                    <a:pt x="205763" y="0"/>
                    <a:pt x="459633" y="0"/>
                  </a:cubicBezTo>
                  <a:cubicBezTo>
                    <a:pt x="713502" y="0"/>
                    <a:pt x="919265" y="184607"/>
                    <a:pt x="919265" y="412374"/>
                  </a:cubicBezTo>
                  <a:cubicBezTo>
                    <a:pt x="919265" y="640141"/>
                    <a:pt x="713502" y="824748"/>
                    <a:pt x="459633" y="824748"/>
                  </a:cubicBezTo>
                  <a:cubicBezTo>
                    <a:pt x="205763" y="824748"/>
                    <a:pt x="0" y="640141"/>
                    <a:pt x="0" y="412374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919265" cy="843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1F202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7280" y="6364806"/>
            <a:ext cx="600088" cy="538388"/>
            <a:chOff x="0" y="0"/>
            <a:chExt cx="919265" cy="82474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19265" cy="824748"/>
            </a:xfrm>
            <a:custGeom>
              <a:avLst/>
              <a:gdLst/>
              <a:ahLst/>
              <a:cxnLst/>
              <a:rect l="l" t="t" r="r" b="b"/>
              <a:pathLst>
                <a:path w="919265" h="824748">
                  <a:moveTo>
                    <a:pt x="0" y="412374"/>
                  </a:moveTo>
                  <a:cubicBezTo>
                    <a:pt x="0" y="184607"/>
                    <a:pt x="205763" y="0"/>
                    <a:pt x="459633" y="0"/>
                  </a:cubicBezTo>
                  <a:cubicBezTo>
                    <a:pt x="713502" y="0"/>
                    <a:pt x="919265" y="184607"/>
                    <a:pt x="919265" y="412374"/>
                  </a:cubicBezTo>
                  <a:cubicBezTo>
                    <a:pt x="919265" y="640141"/>
                    <a:pt x="713502" y="824748"/>
                    <a:pt x="459633" y="824748"/>
                  </a:cubicBezTo>
                  <a:cubicBezTo>
                    <a:pt x="205763" y="824748"/>
                    <a:pt x="0" y="640141"/>
                    <a:pt x="0" y="412374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919265" cy="843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1F202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693310" y="1242060"/>
            <a:ext cx="4407579" cy="7374594"/>
            <a:chOff x="0" y="0"/>
            <a:chExt cx="5876773" cy="9832791"/>
          </a:xfrm>
        </p:grpSpPr>
        <p:sp>
          <p:nvSpPr>
            <p:cNvPr id="19" name="Freeform 19" descr="Screenshot of the Advanced screen with the equation solver prompting for coefficients"/>
            <p:cNvSpPr/>
            <p:nvPr/>
          </p:nvSpPr>
          <p:spPr>
            <a:xfrm>
              <a:off x="0" y="0"/>
              <a:ext cx="5876798" cy="9832791"/>
            </a:xfrm>
            <a:custGeom>
              <a:avLst/>
              <a:gdLst/>
              <a:ahLst/>
              <a:cxnLst/>
              <a:rect l="l" t="t" r="r" b="b"/>
              <a:pathLst>
                <a:path w="5876798" h="9832791">
                  <a:moveTo>
                    <a:pt x="342900" y="0"/>
                  </a:moveTo>
                  <a:lnTo>
                    <a:pt x="5533898" y="0"/>
                  </a:lnTo>
                  <a:cubicBezTo>
                    <a:pt x="5723276" y="0"/>
                    <a:pt x="5876798" y="153522"/>
                    <a:pt x="5876798" y="342900"/>
                  </a:cubicBezTo>
                  <a:lnTo>
                    <a:pt x="5876798" y="9489891"/>
                  </a:lnTo>
                  <a:cubicBezTo>
                    <a:pt x="5876798" y="9580834"/>
                    <a:pt x="5840671" y="9668052"/>
                    <a:pt x="5776365" y="9732358"/>
                  </a:cubicBezTo>
                  <a:cubicBezTo>
                    <a:pt x="5712059" y="9796665"/>
                    <a:pt x="5624841" y="9832791"/>
                    <a:pt x="5533898" y="9832791"/>
                  </a:cubicBezTo>
                  <a:lnTo>
                    <a:pt x="342900" y="9832791"/>
                  </a:lnTo>
                  <a:cubicBezTo>
                    <a:pt x="153522" y="9832791"/>
                    <a:pt x="0" y="9679270"/>
                    <a:pt x="0" y="9489891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blipFill>
              <a:blip r:embed="rId4"/>
              <a:stretch>
                <a:fillRect t="-3317" b="-3317"/>
              </a:stretch>
            </a:blipFill>
            <a:ln w="952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6093440" y="9399270"/>
            <a:ext cx="109728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6B6F7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84922" y="4431216"/>
            <a:ext cx="9046189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Equation Solver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Prompts for one coefficient at a time and solves linear, quadratic and cubic equations.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84922" y="5369436"/>
            <a:ext cx="9046189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Statistics 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Accepts a dataset and calculates the mean, variance, quartiles and regression.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92371" y="6307656"/>
            <a:ext cx="9046189" cy="1159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Variables and history: 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Stores values like a = 5 so they can be reused. Keeps a record of calculations and can switch answers between fraction and decimal form.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92371" y="3492539"/>
            <a:ext cx="9046189" cy="761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Scientific &amp; Advanced Modes</a:t>
            </a:r>
            <a:r>
              <a:rPr lang="en-US" sz="21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Can perform trigonometric, logarithmic, power and root functions, along with nCr and nPr for combinations and permutations.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ABB7AA-3F59-559B-61F6-0D2B5BC2E117}"/>
              </a:ext>
            </a:extLst>
          </p:cNvPr>
          <p:cNvSpPr/>
          <p:nvPr/>
        </p:nvSpPr>
        <p:spPr>
          <a:xfrm>
            <a:off x="12801600" y="1242061"/>
            <a:ext cx="4114800" cy="1676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9410700"/>
            <a:ext cx="9144000" cy="548640"/>
            <a:chOff x="0" y="0"/>
            <a:chExt cx="121920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731520"/>
            </a:xfrm>
            <a:custGeom>
              <a:avLst/>
              <a:gdLst/>
              <a:ahLst/>
              <a:cxnLst/>
              <a:rect l="l" t="t" r="r" b="b"/>
              <a:pathLst>
                <a:path w="12192000" h="73152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4750" b="-27475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21920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6F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Scientific &amp; Advanced Calculator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40758" y="680446"/>
            <a:ext cx="7633647" cy="222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2325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Statistics and Graphing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27948" y="4095549"/>
            <a:ext cx="531618" cy="546403"/>
            <a:chOff x="0" y="0"/>
            <a:chExt cx="976756" cy="10039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76756" cy="1003921"/>
            </a:xfrm>
            <a:custGeom>
              <a:avLst/>
              <a:gdLst/>
              <a:ahLst/>
              <a:cxnLst/>
              <a:rect l="l" t="t" r="r" b="b"/>
              <a:pathLst>
                <a:path w="976756" h="1003921">
                  <a:moveTo>
                    <a:pt x="0" y="501961"/>
                  </a:moveTo>
                  <a:cubicBezTo>
                    <a:pt x="0" y="224712"/>
                    <a:pt x="218631" y="0"/>
                    <a:pt x="488378" y="0"/>
                  </a:cubicBezTo>
                  <a:cubicBezTo>
                    <a:pt x="758124" y="0"/>
                    <a:pt x="976756" y="224712"/>
                    <a:pt x="976756" y="501961"/>
                  </a:cubicBezTo>
                  <a:cubicBezTo>
                    <a:pt x="976756" y="779209"/>
                    <a:pt x="758124" y="1003921"/>
                    <a:pt x="488378" y="1003921"/>
                  </a:cubicBezTo>
                  <a:cubicBezTo>
                    <a:pt x="218631" y="1003921"/>
                    <a:pt x="0" y="779209"/>
                    <a:pt x="0" y="501961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976756" cy="1022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F202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7948" y="5126937"/>
            <a:ext cx="531618" cy="546403"/>
            <a:chOff x="0" y="0"/>
            <a:chExt cx="976756" cy="10039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6756" cy="1003921"/>
            </a:xfrm>
            <a:custGeom>
              <a:avLst/>
              <a:gdLst/>
              <a:ahLst/>
              <a:cxnLst/>
              <a:rect l="l" t="t" r="r" b="b"/>
              <a:pathLst>
                <a:path w="976756" h="1003921">
                  <a:moveTo>
                    <a:pt x="0" y="501961"/>
                  </a:moveTo>
                  <a:cubicBezTo>
                    <a:pt x="0" y="224712"/>
                    <a:pt x="218631" y="0"/>
                    <a:pt x="488378" y="0"/>
                  </a:cubicBezTo>
                  <a:cubicBezTo>
                    <a:pt x="758124" y="0"/>
                    <a:pt x="976756" y="224712"/>
                    <a:pt x="976756" y="501961"/>
                  </a:cubicBezTo>
                  <a:cubicBezTo>
                    <a:pt x="976756" y="779209"/>
                    <a:pt x="758124" y="1003921"/>
                    <a:pt x="488378" y="1003921"/>
                  </a:cubicBezTo>
                  <a:cubicBezTo>
                    <a:pt x="218631" y="1003921"/>
                    <a:pt x="0" y="779209"/>
                    <a:pt x="0" y="501961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976756" cy="1022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F202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65662" y="6159115"/>
            <a:ext cx="531618" cy="546403"/>
            <a:chOff x="0" y="0"/>
            <a:chExt cx="976756" cy="100392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76756" cy="1003921"/>
            </a:xfrm>
            <a:custGeom>
              <a:avLst/>
              <a:gdLst/>
              <a:ahLst/>
              <a:cxnLst/>
              <a:rect l="l" t="t" r="r" b="b"/>
              <a:pathLst>
                <a:path w="976756" h="1003921">
                  <a:moveTo>
                    <a:pt x="0" y="501961"/>
                  </a:moveTo>
                  <a:cubicBezTo>
                    <a:pt x="0" y="224712"/>
                    <a:pt x="218631" y="0"/>
                    <a:pt x="488378" y="0"/>
                  </a:cubicBezTo>
                  <a:cubicBezTo>
                    <a:pt x="758124" y="0"/>
                    <a:pt x="976756" y="224712"/>
                    <a:pt x="976756" y="501961"/>
                  </a:cubicBezTo>
                  <a:cubicBezTo>
                    <a:pt x="976756" y="779209"/>
                    <a:pt x="758124" y="1003921"/>
                    <a:pt x="488378" y="1003921"/>
                  </a:cubicBezTo>
                  <a:cubicBezTo>
                    <a:pt x="218631" y="1003921"/>
                    <a:pt x="0" y="779209"/>
                    <a:pt x="0" y="501961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976756" cy="1022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F202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42412" y="1470567"/>
            <a:ext cx="3938100" cy="6574447"/>
            <a:chOff x="0" y="0"/>
            <a:chExt cx="5339055" cy="8913265"/>
          </a:xfrm>
        </p:grpSpPr>
        <p:sp>
          <p:nvSpPr>
            <p:cNvPr id="16" name="Freeform 16" descr="Screenshot of linear regression: scatter plot, fitted line and summary"/>
            <p:cNvSpPr/>
            <p:nvPr/>
          </p:nvSpPr>
          <p:spPr>
            <a:xfrm>
              <a:off x="0" y="0"/>
              <a:ext cx="5339080" cy="8913264"/>
            </a:xfrm>
            <a:custGeom>
              <a:avLst/>
              <a:gdLst/>
              <a:ahLst/>
              <a:cxnLst/>
              <a:rect l="l" t="t" r="r" b="b"/>
              <a:pathLst>
                <a:path w="5339080" h="8913264">
                  <a:moveTo>
                    <a:pt x="387404" y="0"/>
                  </a:moveTo>
                  <a:lnTo>
                    <a:pt x="4951676" y="0"/>
                  </a:lnTo>
                  <a:cubicBezTo>
                    <a:pt x="5165634" y="0"/>
                    <a:pt x="5339080" y="173447"/>
                    <a:pt x="5339080" y="387404"/>
                  </a:cubicBezTo>
                  <a:lnTo>
                    <a:pt x="5339080" y="8525861"/>
                  </a:lnTo>
                  <a:cubicBezTo>
                    <a:pt x="5339080" y="8739818"/>
                    <a:pt x="5165634" y="8913264"/>
                    <a:pt x="4951676" y="8913264"/>
                  </a:cubicBezTo>
                  <a:lnTo>
                    <a:pt x="387404" y="8913264"/>
                  </a:lnTo>
                  <a:cubicBezTo>
                    <a:pt x="173447" y="8913264"/>
                    <a:pt x="0" y="8739818"/>
                    <a:pt x="0" y="8525861"/>
                  </a:cubicBezTo>
                  <a:lnTo>
                    <a:pt x="0" y="387404"/>
                  </a:lnTo>
                  <a:cubicBezTo>
                    <a:pt x="0" y="173447"/>
                    <a:pt x="173447" y="0"/>
                    <a:pt x="387404" y="0"/>
                  </a:cubicBezTo>
                  <a:close/>
                </a:path>
              </a:pathLst>
            </a:custGeom>
            <a:blipFill>
              <a:blip r:embed="rId4"/>
              <a:stretch>
                <a:fillRect t="-3346" b="-3346"/>
              </a:stretch>
            </a:blipFill>
            <a:ln w="952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3904709" y="1433865"/>
            <a:ext cx="3970344" cy="6574446"/>
            <a:chOff x="0" y="0"/>
            <a:chExt cx="5382769" cy="8913264"/>
          </a:xfrm>
        </p:grpSpPr>
        <p:sp>
          <p:nvSpPr>
            <p:cNvPr id="18" name="Freeform 18" descr="Screenshot of a Poisson distribution with its lambda value"/>
            <p:cNvSpPr/>
            <p:nvPr/>
          </p:nvSpPr>
          <p:spPr>
            <a:xfrm>
              <a:off x="0" y="0"/>
              <a:ext cx="5382769" cy="8913264"/>
            </a:xfrm>
            <a:custGeom>
              <a:avLst/>
              <a:gdLst/>
              <a:ahLst/>
              <a:cxnLst/>
              <a:rect l="l" t="t" r="r" b="b"/>
              <a:pathLst>
                <a:path w="5382768" h="8913264">
                  <a:moveTo>
                    <a:pt x="387404" y="0"/>
                  </a:moveTo>
                  <a:lnTo>
                    <a:pt x="4995364" y="0"/>
                  </a:lnTo>
                  <a:cubicBezTo>
                    <a:pt x="5209322" y="0"/>
                    <a:pt x="5382768" y="173447"/>
                    <a:pt x="5382768" y="387404"/>
                  </a:cubicBezTo>
                  <a:lnTo>
                    <a:pt x="5382768" y="8525861"/>
                  </a:lnTo>
                  <a:cubicBezTo>
                    <a:pt x="5382768" y="8739818"/>
                    <a:pt x="5209322" y="8913264"/>
                    <a:pt x="4995364" y="8913264"/>
                  </a:cubicBezTo>
                  <a:lnTo>
                    <a:pt x="387404" y="8913264"/>
                  </a:lnTo>
                  <a:cubicBezTo>
                    <a:pt x="173447" y="8913264"/>
                    <a:pt x="0" y="8739818"/>
                    <a:pt x="0" y="8525861"/>
                  </a:cubicBezTo>
                  <a:lnTo>
                    <a:pt x="0" y="387404"/>
                  </a:lnTo>
                  <a:cubicBezTo>
                    <a:pt x="0" y="173447"/>
                    <a:pt x="173447" y="0"/>
                    <a:pt x="387404" y="0"/>
                  </a:cubicBezTo>
                  <a:close/>
                </a:path>
              </a:pathLst>
            </a:custGeom>
            <a:blipFill>
              <a:blip r:embed="rId5"/>
              <a:stretch>
                <a:fillRect t="-3346" b="-3346"/>
              </a:stretch>
            </a:blipFill>
            <a:ln w="952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642412" y="8362347"/>
            <a:ext cx="4005072" cy="548640"/>
            <a:chOff x="0" y="0"/>
            <a:chExt cx="5340096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40096" cy="731520"/>
            </a:xfrm>
            <a:custGeom>
              <a:avLst/>
              <a:gdLst/>
              <a:ahLst/>
              <a:cxnLst/>
              <a:rect l="l" t="t" r="r" b="b"/>
              <a:pathLst>
                <a:path w="5340096" h="731520">
                  <a:moveTo>
                    <a:pt x="0" y="0"/>
                  </a:moveTo>
                  <a:lnTo>
                    <a:pt x="5340096" y="0"/>
                  </a:lnTo>
                  <a:lnTo>
                    <a:pt x="53400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240" b="-9224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5340096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6B6F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Linear regression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833395" y="8362347"/>
            <a:ext cx="4041648" cy="548640"/>
            <a:chOff x="0" y="0"/>
            <a:chExt cx="5388864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388864" cy="731520"/>
            </a:xfrm>
            <a:custGeom>
              <a:avLst/>
              <a:gdLst/>
              <a:ahLst/>
              <a:cxnLst/>
              <a:rect l="l" t="t" r="r" b="b"/>
              <a:pathLst>
                <a:path w="5388864" h="731520">
                  <a:moveTo>
                    <a:pt x="0" y="0"/>
                  </a:moveTo>
                  <a:lnTo>
                    <a:pt x="5388864" y="0"/>
                  </a:lnTo>
                  <a:lnTo>
                    <a:pt x="53888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539" b="-93539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5388864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6B6F7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Poisson distribution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6093440" y="9399270"/>
            <a:ext cx="109728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6B6F7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47887" y="4179969"/>
            <a:ext cx="7896113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Summary below the graph:</a:t>
            </a: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Displays the equation, correlation and R² directly below the graph for quick analysis.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7215" y="5192712"/>
            <a:ext cx="7896113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Regression and Poisson:</a:t>
            </a: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Draws a fitted regression line for paired data and a Poisson curve based on the mean of the data.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7215" y="6225437"/>
            <a:ext cx="7895825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Zoom and pan:</a:t>
            </a: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Allows zooming, panning and resetting the view to examine the graph in detail.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F853CC-77A7-6F20-6941-FEE432D5EDDC}"/>
              </a:ext>
            </a:extLst>
          </p:cNvPr>
          <p:cNvSpPr/>
          <p:nvPr/>
        </p:nvSpPr>
        <p:spPr>
          <a:xfrm>
            <a:off x="9782671" y="1470566"/>
            <a:ext cx="3657600" cy="915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578FE5-205B-8892-65EA-04E065C6051F}"/>
              </a:ext>
            </a:extLst>
          </p:cNvPr>
          <p:cNvSpPr/>
          <p:nvPr/>
        </p:nvSpPr>
        <p:spPr>
          <a:xfrm>
            <a:off x="14025419" y="1494991"/>
            <a:ext cx="3657600" cy="915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E7F828-A815-853A-DFCC-A0622C9AE009}"/>
              </a:ext>
            </a:extLst>
          </p:cNvPr>
          <p:cNvCxnSpPr>
            <a:cxnSpLocks/>
          </p:cNvCxnSpPr>
          <p:nvPr/>
        </p:nvCxnSpPr>
        <p:spPr>
          <a:xfrm>
            <a:off x="13980257" y="1562099"/>
            <a:ext cx="0" cy="639167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7280" y="3061335"/>
            <a:ext cx="9875520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97280" y="5284470"/>
            <a:ext cx="914400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Aditi Kumar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B8BC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NextHikes IT Solutions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521440" y="1554480"/>
            <a:ext cx="5687568" cy="1463040"/>
            <a:chOff x="0" y="0"/>
            <a:chExt cx="7583424" cy="1950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583424" cy="1950720"/>
            </a:xfrm>
            <a:custGeom>
              <a:avLst/>
              <a:gdLst/>
              <a:ahLst/>
              <a:cxnLst/>
              <a:rect l="l" t="t" r="r" b="b"/>
              <a:pathLst>
                <a:path w="7583424" h="19507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7388352" y="0"/>
                  </a:lnTo>
                  <a:cubicBezTo>
                    <a:pt x="7496049" y="0"/>
                    <a:pt x="7583424" y="87376"/>
                    <a:pt x="7583424" y="195072"/>
                  </a:cubicBezTo>
                  <a:lnTo>
                    <a:pt x="7583424" y="1755648"/>
                  </a:lnTo>
                  <a:cubicBezTo>
                    <a:pt x="7583424" y="1863344"/>
                    <a:pt x="7496049" y="1950720"/>
                    <a:pt x="7388352" y="1950720"/>
                  </a:cubicBezTo>
                  <a:lnTo>
                    <a:pt x="195072" y="1950720"/>
                  </a:lnTo>
                  <a:cubicBezTo>
                    <a:pt x="87376" y="1950720"/>
                    <a:pt x="0" y="1863344"/>
                    <a:pt x="0" y="1755648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521440" y="3383280"/>
            <a:ext cx="1243584" cy="1243584"/>
            <a:chOff x="0" y="0"/>
            <a:chExt cx="1658112" cy="16581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002768" y="3383280"/>
            <a:ext cx="1243584" cy="1243584"/>
            <a:chOff x="0" y="0"/>
            <a:chExt cx="1658112" cy="16581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484096" y="3383280"/>
            <a:ext cx="1243584" cy="1243584"/>
            <a:chOff x="0" y="0"/>
            <a:chExt cx="1658112" cy="16581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5965424" y="3383280"/>
            <a:ext cx="1243584" cy="1243584"/>
            <a:chOff x="0" y="0"/>
            <a:chExt cx="1658112" cy="16581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1521440" y="4864608"/>
            <a:ext cx="1243584" cy="1243584"/>
            <a:chOff x="0" y="0"/>
            <a:chExt cx="1658112" cy="16581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3002768" y="4864608"/>
            <a:ext cx="1243584" cy="1243584"/>
            <a:chOff x="0" y="0"/>
            <a:chExt cx="1658112" cy="16581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4484096" y="4864608"/>
            <a:ext cx="1243584" cy="1243584"/>
            <a:chOff x="0" y="0"/>
            <a:chExt cx="1658112" cy="16581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5965424" y="4864608"/>
            <a:ext cx="1243584" cy="1243584"/>
            <a:chOff x="0" y="0"/>
            <a:chExt cx="1658112" cy="16581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1521440" y="6345936"/>
            <a:ext cx="1243584" cy="1243584"/>
            <a:chOff x="0" y="0"/>
            <a:chExt cx="1658112" cy="165811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3002768" y="6345936"/>
            <a:ext cx="1243584" cy="1243584"/>
            <a:chOff x="0" y="0"/>
            <a:chExt cx="1658112" cy="165811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4484096" y="6345936"/>
            <a:ext cx="1243584" cy="1243584"/>
            <a:chOff x="0" y="0"/>
            <a:chExt cx="1658112" cy="16581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5965424" y="6345936"/>
            <a:ext cx="1243584" cy="1243584"/>
            <a:chOff x="0" y="0"/>
            <a:chExt cx="1658112" cy="165811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1521440" y="7827264"/>
            <a:ext cx="1243584" cy="1243584"/>
            <a:chOff x="0" y="0"/>
            <a:chExt cx="1658112" cy="165811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3002768" y="7827264"/>
            <a:ext cx="1243584" cy="1243584"/>
            <a:chOff x="0" y="0"/>
            <a:chExt cx="1658112" cy="165811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4484096" y="7827264"/>
            <a:ext cx="1243584" cy="1243584"/>
            <a:chOff x="0" y="0"/>
            <a:chExt cx="1658112" cy="165811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2E2F34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5965424" y="7827264"/>
            <a:ext cx="1243584" cy="1243584"/>
            <a:chOff x="0" y="0"/>
            <a:chExt cx="1658112" cy="165811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658112" cy="1658112"/>
            </a:xfrm>
            <a:custGeom>
              <a:avLst/>
              <a:gdLst/>
              <a:ahLst/>
              <a:cxnLst/>
              <a:rect l="l" t="t" r="r" b="b"/>
              <a:pathLst>
                <a:path w="1658112" h="165811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463040" y="0"/>
                  </a:lnTo>
                  <a:cubicBezTo>
                    <a:pt x="1570736" y="0"/>
                    <a:pt x="1658112" y="87376"/>
                    <a:pt x="1658112" y="195072"/>
                  </a:cubicBezTo>
                  <a:lnTo>
                    <a:pt x="1658112" y="1463040"/>
                  </a:lnTo>
                  <a:cubicBezTo>
                    <a:pt x="1658112" y="1570736"/>
                    <a:pt x="1570736" y="1658112"/>
                    <a:pt x="1463040" y="1658112"/>
                  </a:cubicBezTo>
                  <a:lnTo>
                    <a:pt x="195072" y="1658112"/>
                  </a:lnTo>
                  <a:cubicBezTo>
                    <a:pt x="87376" y="1658112"/>
                    <a:pt x="0" y="1570736"/>
                    <a:pt x="0" y="1463040"/>
                  </a:cubicBezTo>
                  <a:close/>
                </a:path>
              </a:pathLst>
            </a:custGeom>
            <a:solidFill>
              <a:srgbClr val="F59E37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394</Words>
  <Application>Microsoft Office PowerPoint</Application>
  <PresentationFormat>Custom</PresentationFormat>
  <Paragraphs>79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Times New Roman Bold</vt:lpstr>
      <vt:lpstr>Calibri (MS) Bold</vt:lpstr>
      <vt:lpstr>Belleza</vt:lpstr>
      <vt:lpstr>Arial</vt:lpstr>
      <vt:lpstr>Open Sans</vt:lpstr>
      <vt:lpstr>Calibri</vt:lpstr>
      <vt:lpstr>Times New Roman</vt:lpstr>
      <vt:lpstr>Open Sans Bold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Dark-Calc-Ppt</dc:title>
  <dc:creator>ADITI KUMAR</dc:creator>
  <cp:lastModifiedBy>ADITI KUMAR</cp:lastModifiedBy>
  <cp:revision>9</cp:revision>
  <dcterms:created xsi:type="dcterms:W3CDTF">2006-08-16T00:00:00Z</dcterms:created>
  <dcterms:modified xsi:type="dcterms:W3CDTF">2026-11-01T20:10:28Z</dcterms:modified>
  <dc:identifier>DAHY8ot3kSw</dc:identifier>
</cp:coreProperties>
</file>